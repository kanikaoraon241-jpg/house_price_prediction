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0"/>
    </p:embeddedFont>
    <p:embeddedFont>
      <p:font typeface="Aptos Bold Italics" charset="1" panose="020B000402020209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627951" cy="10295039"/>
            <a:chOff x="0" y="0"/>
            <a:chExt cx="7503935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0392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839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9500" y="1509941"/>
            <a:ext cx="3568951" cy="3568951"/>
            <a:chOff x="0" y="0"/>
            <a:chExt cx="4758601" cy="475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58563" cy="4758563"/>
            </a:xfrm>
            <a:custGeom>
              <a:avLst/>
              <a:gdLst/>
              <a:ahLst/>
              <a:cxnLst/>
              <a:rect r="r" b="b" t="t" l="l"/>
              <a:pathLst>
                <a:path h="4758563" w="4758563">
                  <a:moveTo>
                    <a:pt x="0" y="2379345"/>
                  </a:moveTo>
                  <a:cubicBezTo>
                    <a:pt x="0" y="1065276"/>
                    <a:pt x="1065276" y="0"/>
                    <a:pt x="2379345" y="0"/>
                  </a:cubicBezTo>
                  <a:cubicBezTo>
                    <a:pt x="3693414" y="0"/>
                    <a:pt x="4758563" y="1065276"/>
                    <a:pt x="4758563" y="2379345"/>
                  </a:cubicBezTo>
                  <a:cubicBezTo>
                    <a:pt x="4758563" y="3693414"/>
                    <a:pt x="3693287" y="4758563"/>
                    <a:pt x="2379345" y="4758563"/>
                  </a:cubicBezTo>
                  <a:cubicBezTo>
                    <a:pt x="1065403" y="4758563"/>
                    <a:pt x="0" y="3693287"/>
                    <a:pt x="0" y="2379345"/>
                  </a:cubicBezTo>
                  <a:close/>
                </a:path>
              </a:pathLst>
            </a:custGeom>
            <a:solidFill>
              <a:srgbClr val="149D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843" y="2223726"/>
            <a:ext cx="2196274" cy="1784471"/>
            <a:chOff x="0" y="0"/>
            <a:chExt cx="2928366" cy="2379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8366" cy="2379345"/>
            </a:xfrm>
            <a:custGeom>
              <a:avLst/>
              <a:gdLst/>
              <a:ahLst/>
              <a:cxnLst/>
              <a:rect r="r" b="b" t="t" l="l"/>
              <a:pathLst>
                <a:path h="2379345" w="2928366">
                  <a:moveTo>
                    <a:pt x="0" y="2379345"/>
                  </a:moveTo>
                  <a:lnTo>
                    <a:pt x="1464183" y="0"/>
                  </a:lnTo>
                  <a:lnTo>
                    <a:pt x="2928366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0186" y="3431677"/>
            <a:ext cx="1441304" cy="1098137"/>
            <a:chOff x="0" y="0"/>
            <a:chExt cx="1921739" cy="14641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1764" cy="1464183"/>
            </a:xfrm>
            <a:custGeom>
              <a:avLst/>
              <a:gdLst/>
              <a:ahLst/>
              <a:cxnLst/>
              <a:rect r="r" b="b" t="t" l="l"/>
              <a:pathLst>
                <a:path h="146418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11636" y="1761563"/>
            <a:ext cx="10249433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HOUSE PRICE</a:t>
            </a:r>
          </a:p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80264" y="4095102"/>
            <a:ext cx="942582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149D97"/>
                </a:solidFill>
                <a:latin typeface="Aptos"/>
                <a:ea typeface="Aptos"/>
                <a:cs typeface="Aptos"/>
                <a:sym typeface="Aptos"/>
              </a:rPr>
              <a:t>Machine Learning Regression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80264" y="5526881"/>
            <a:ext cx="9425826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Student Name:                                 </a:t>
            </a:r>
            <a:r>
              <a:rPr lang="en-US" b="true" sz="2101" i="true" u="sng">
                <a:solidFill>
                  <a:srgbClr val="2B3948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KANIKA ORAON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Roll / Enrollment No.:                   </a:t>
            </a:r>
            <a:r>
              <a:rPr lang="en-US" b="true" sz="2101" i="true" u="sng">
                <a:solidFill>
                  <a:srgbClr val="2B3948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A35404825022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Course / Class:                               </a:t>
            </a:r>
            <a:r>
              <a:rPr lang="en-US" b="true" sz="2101" i="true" u="sng">
                <a:solidFill>
                  <a:srgbClr val="2B3948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 BCA</a:t>
            </a: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Institution:                                       </a:t>
            </a:r>
            <a:r>
              <a:rPr lang="en-US" b="true" sz="2101" i="true" u="sng">
                <a:solidFill>
                  <a:srgbClr val="2B3948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  AMITY UNIVERSITY JHARKHAND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80263" y="8624926"/>
            <a:ext cx="97003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66788C"/>
                </a:solidFill>
                <a:latin typeface="Aptos Bold"/>
                <a:ea typeface="Aptos Bold"/>
                <a:cs typeface="Aptos Bold"/>
                <a:sym typeface="Aptos Bold"/>
              </a:rPr>
              <a:t> • 17,000 records • 4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What real-world problem is being addressed?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2356" y="1983229"/>
            <a:ext cx="5161817" cy="2759640"/>
            <a:chOff x="0" y="0"/>
            <a:chExt cx="6882422" cy="3679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1990373"/>
            <a:ext cx="109814" cy="2745343"/>
            <a:chOff x="0" y="0"/>
            <a:chExt cx="146418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22930" y="2241994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The challenge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2930" y="2887151"/>
            <a:ext cx="4415571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House prices depend on geographic, demographic and housing characteristics, making manual estimation difficult.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1680" y="1983229"/>
            <a:ext cx="5161817" cy="2759640"/>
            <a:chOff x="0" y="0"/>
            <a:chExt cx="6882422" cy="36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588824" y="1990373"/>
            <a:ext cx="109814" cy="2745343"/>
            <a:chOff x="0" y="0"/>
            <a:chExt cx="146418" cy="36604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82254" y="2241994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ML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82254" y="2887151"/>
            <a:ext cx="4415571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Learn relationships from historical housing data and use them to estimate median house value.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41003" y="1983229"/>
            <a:ext cx="5161817" cy="2759640"/>
            <a:chOff x="0" y="0"/>
            <a:chExt cx="6882422" cy="3679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48147" y="1990373"/>
            <a:ext cx="109814" cy="2745343"/>
            <a:chOff x="0" y="0"/>
            <a:chExt cx="146418" cy="36604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D69D2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41577" y="2241994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41577" y="2887151"/>
            <a:ext cx="4415571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A consistent prediction model can support quicker, data-driven property valuation.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5479" y="5673671"/>
            <a:ext cx="15191051" cy="237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This is a regression problem because the target is a continuous numeric value.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Target variable: median_house_value.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The project compares four regression models.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Project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What the system is designed to predict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0984" y="1983229"/>
            <a:ext cx="7975797" cy="2279209"/>
            <a:chOff x="0" y="0"/>
            <a:chExt cx="10634396" cy="30389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4345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634345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226822"/>
                    <a:pt x="10634345" y="506476"/>
                  </a:cubicBezTo>
                  <a:lnTo>
                    <a:pt x="10634345" y="2532380"/>
                  </a:lnTo>
                  <a:cubicBezTo>
                    <a:pt x="10634345" y="2812161"/>
                    <a:pt x="10407523" y="3038856"/>
                    <a:pt x="10127869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8137" y="1990373"/>
            <a:ext cx="109814" cy="2264912"/>
            <a:chOff x="0" y="0"/>
            <a:chExt cx="146418" cy="30198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91567" y="2241994"/>
            <a:ext cx="722955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Primary objective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1567" y="2887151"/>
            <a:ext cx="7229551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Predict median house value using the eight available input features.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64288" y="1983229"/>
            <a:ext cx="7632630" cy="2279209"/>
            <a:chOff x="0" y="0"/>
            <a:chExt cx="10176840" cy="30389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76764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176764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670288" y="0"/>
                  </a:lnTo>
                  <a:cubicBezTo>
                    <a:pt x="9950069" y="0"/>
                    <a:pt x="10176764" y="226822"/>
                    <a:pt x="10176764" y="506476"/>
                  </a:cubicBezTo>
                  <a:lnTo>
                    <a:pt x="10176764" y="2532380"/>
                  </a:lnTo>
                  <a:cubicBezTo>
                    <a:pt x="10176764" y="2812161"/>
                    <a:pt x="9949942" y="3038856"/>
                    <a:pt x="9670288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471441" y="1990373"/>
            <a:ext cx="109814" cy="2264912"/>
            <a:chOff x="0" y="0"/>
            <a:chExt cx="146418" cy="30198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864871" y="2241994"/>
            <a:ext cx="6886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Model objective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64871" y="2887151"/>
            <a:ext cx="6886384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Compare Linear Regression, Random Forest, Gradient Boosting and ANN using MAE, RMSE and R².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4116" y="5055975"/>
            <a:ext cx="15191051" cy="347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Inspect and understand the dataset.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Perform EDA and identify useful relationships.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Prepare train/test data and scale features where used.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Train four models and evaluate them on the test set.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Select the best-performing model.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Dataset 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California Housing training data used in the notebook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2356" y="1845955"/>
            <a:ext cx="3651885" cy="2141944"/>
            <a:chOff x="0" y="0"/>
            <a:chExt cx="4869180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4393184" y="0"/>
                  </a:lnTo>
                  <a:cubicBezTo>
                    <a:pt x="4656074" y="0"/>
                    <a:pt x="4869180" y="213106"/>
                    <a:pt x="4869180" y="475996"/>
                  </a:cubicBezTo>
                  <a:lnTo>
                    <a:pt x="4869180" y="2379980"/>
                  </a:lnTo>
                  <a:cubicBezTo>
                    <a:pt x="4869180" y="2642870"/>
                    <a:pt x="4656074" y="2855976"/>
                    <a:pt x="439318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1853108"/>
            <a:ext cx="109814" cy="2127647"/>
            <a:chOff x="0" y="0"/>
            <a:chExt cx="146418" cy="28368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22930" y="2104730"/>
            <a:ext cx="290563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Rows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2930" y="2749887"/>
            <a:ext cx="2905630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17,000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03102" y="1845955"/>
            <a:ext cx="3651885" cy="2141944"/>
            <a:chOff x="0" y="0"/>
            <a:chExt cx="4869180" cy="28559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4393184" y="0"/>
                  </a:lnTo>
                  <a:cubicBezTo>
                    <a:pt x="4656074" y="0"/>
                    <a:pt x="4869180" y="213106"/>
                    <a:pt x="4869180" y="475996"/>
                  </a:cubicBezTo>
                  <a:lnTo>
                    <a:pt x="4869180" y="2379980"/>
                  </a:lnTo>
                  <a:cubicBezTo>
                    <a:pt x="4869180" y="2642870"/>
                    <a:pt x="4656074" y="2855976"/>
                    <a:pt x="439318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010255" y="1853108"/>
            <a:ext cx="109814" cy="2127647"/>
            <a:chOff x="0" y="0"/>
            <a:chExt cx="146418" cy="2836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403685" y="2104730"/>
            <a:ext cx="290563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Columns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3685" y="2749887"/>
            <a:ext cx="2905630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83856" y="1845955"/>
            <a:ext cx="3651885" cy="2141944"/>
            <a:chOff x="0" y="0"/>
            <a:chExt cx="4869180" cy="28559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4393184" y="0"/>
                  </a:lnTo>
                  <a:cubicBezTo>
                    <a:pt x="4656074" y="0"/>
                    <a:pt x="4869180" y="213106"/>
                    <a:pt x="4869180" y="475996"/>
                  </a:cubicBezTo>
                  <a:lnTo>
                    <a:pt x="4869180" y="2379980"/>
                  </a:lnTo>
                  <a:cubicBezTo>
                    <a:pt x="4869180" y="2642870"/>
                    <a:pt x="4656074" y="2855976"/>
                    <a:pt x="439318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991000" y="1853108"/>
            <a:ext cx="109814" cy="2127647"/>
            <a:chOff x="0" y="0"/>
            <a:chExt cx="146418" cy="28368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D69D2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384430" y="2104730"/>
            <a:ext cx="290563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84430" y="2749887"/>
            <a:ext cx="2905630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964601" y="1845955"/>
            <a:ext cx="3651885" cy="2141944"/>
            <a:chOff x="0" y="0"/>
            <a:chExt cx="4869180" cy="28559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9180" cy="2855976"/>
            </a:xfrm>
            <a:custGeom>
              <a:avLst/>
              <a:gdLst/>
              <a:ahLst/>
              <a:cxnLst/>
              <a:rect r="r" b="b" t="t" l="l"/>
              <a:pathLst>
                <a:path h="2855976" w="486918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4393184" y="0"/>
                  </a:lnTo>
                  <a:cubicBezTo>
                    <a:pt x="4656074" y="0"/>
                    <a:pt x="4869180" y="213106"/>
                    <a:pt x="4869180" y="475996"/>
                  </a:cubicBezTo>
                  <a:lnTo>
                    <a:pt x="4869180" y="2379980"/>
                  </a:lnTo>
                  <a:cubicBezTo>
                    <a:pt x="4869180" y="2642870"/>
                    <a:pt x="4656074" y="2855976"/>
                    <a:pt x="439318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971755" y="1853108"/>
            <a:ext cx="109814" cy="2127647"/>
            <a:chOff x="0" y="0"/>
            <a:chExt cx="146418" cy="28368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2A845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365185" y="2104730"/>
            <a:ext cx="290563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Target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5185" y="2749887"/>
            <a:ext cx="2905630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median_house_value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842" y="4634646"/>
            <a:ext cx="7366816" cy="431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Input features: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longitude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latitude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housing_median_age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total_rooms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total_bedrooms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population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households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median_income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5616" y="4918710"/>
            <a:ext cx="6955012" cy="320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Target: median_house_value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All 9 columns are numeric (float64).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Target mean: $207,300.91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Target range: $14,999–$500,001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Data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Preparation steps actually used in the notebook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20494" y="1845955"/>
            <a:ext cx="14976424" cy="1249709"/>
            <a:chOff x="0" y="0"/>
            <a:chExt cx="19968566" cy="16662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68590" cy="1666367"/>
            </a:xfrm>
            <a:custGeom>
              <a:avLst/>
              <a:gdLst/>
              <a:ahLst/>
              <a:cxnLst/>
              <a:rect r="r" b="b" t="t" l="l"/>
              <a:pathLst>
                <a:path h="1666367" w="19968590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9690842" y="0"/>
                  </a:lnTo>
                  <a:cubicBezTo>
                    <a:pt x="19844257" y="0"/>
                    <a:pt x="19968590" y="124333"/>
                    <a:pt x="19968590" y="277749"/>
                  </a:cubicBezTo>
                  <a:lnTo>
                    <a:pt x="19968590" y="1388618"/>
                  </a:lnTo>
                  <a:cubicBezTo>
                    <a:pt x="19968590" y="1542034"/>
                    <a:pt x="19844257" y="1666367"/>
                    <a:pt x="1969084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127647" y="1853108"/>
            <a:ext cx="109814" cy="1235402"/>
            <a:chOff x="0" y="0"/>
            <a:chExt cx="146418" cy="1647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1647190"/>
            </a:xfrm>
            <a:custGeom>
              <a:avLst/>
              <a:gdLst/>
              <a:ahLst/>
              <a:cxnLst/>
              <a:rect r="r" b="b" t="t" l="l"/>
              <a:pathLst>
                <a:path h="164719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21067" y="2104730"/>
            <a:ext cx="1423017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Separate X and 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1067" y="2749887"/>
            <a:ext cx="14230179" cy="1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X = 8 input features; y = median_house_value.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126" y="2118455"/>
            <a:ext cx="57209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20494" y="3602984"/>
            <a:ext cx="14976424" cy="1249709"/>
            <a:chOff x="0" y="0"/>
            <a:chExt cx="19968566" cy="16662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68590" cy="1666367"/>
            </a:xfrm>
            <a:custGeom>
              <a:avLst/>
              <a:gdLst/>
              <a:ahLst/>
              <a:cxnLst/>
              <a:rect r="r" b="b" t="t" l="l"/>
              <a:pathLst>
                <a:path h="1666367" w="19968590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9690842" y="0"/>
                  </a:lnTo>
                  <a:cubicBezTo>
                    <a:pt x="19844257" y="0"/>
                    <a:pt x="19968590" y="124333"/>
                    <a:pt x="19968590" y="277749"/>
                  </a:cubicBezTo>
                  <a:lnTo>
                    <a:pt x="19968590" y="1388618"/>
                  </a:lnTo>
                  <a:cubicBezTo>
                    <a:pt x="19968590" y="1542034"/>
                    <a:pt x="19844257" y="1666367"/>
                    <a:pt x="1969084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127647" y="3610127"/>
            <a:ext cx="109814" cy="1235402"/>
            <a:chOff x="0" y="0"/>
            <a:chExt cx="146418" cy="1647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431" cy="1647190"/>
            </a:xfrm>
            <a:custGeom>
              <a:avLst/>
              <a:gdLst/>
              <a:ahLst/>
              <a:cxnLst/>
              <a:rect r="r" b="b" t="t" l="l"/>
              <a:pathLst>
                <a:path h="164719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521067" y="3861749"/>
            <a:ext cx="1423017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Train/test split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21067" y="4506906"/>
            <a:ext cx="14230179" cy="1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80% training and 20% testing with random_state=42.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2126" y="3875475"/>
            <a:ext cx="57209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120494" y="5360003"/>
            <a:ext cx="14976424" cy="1249709"/>
            <a:chOff x="0" y="0"/>
            <a:chExt cx="19968566" cy="16662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68590" cy="1666367"/>
            </a:xfrm>
            <a:custGeom>
              <a:avLst/>
              <a:gdLst/>
              <a:ahLst/>
              <a:cxnLst/>
              <a:rect r="r" b="b" t="t" l="l"/>
              <a:pathLst>
                <a:path h="1666367" w="19968590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9690842" y="0"/>
                  </a:lnTo>
                  <a:cubicBezTo>
                    <a:pt x="19844257" y="0"/>
                    <a:pt x="19968590" y="124333"/>
                    <a:pt x="19968590" y="277749"/>
                  </a:cubicBezTo>
                  <a:lnTo>
                    <a:pt x="19968590" y="1388618"/>
                  </a:lnTo>
                  <a:cubicBezTo>
                    <a:pt x="19968590" y="1542034"/>
                    <a:pt x="19844257" y="1666367"/>
                    <a:pt x="1969084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127647" y="5367147"/>
            <a:ext cx="109814" cy="1235402"/>
            <a:chOff x="0" y="0"/>
            <a:chExt cx="146418" cy="16472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31" cy="1647190"/>
            </a:xfrm>
            <a:custGeom>
              <a:avLst/>
              <a:gdLst/>
              <a:ahLst/>
              <a:cxnLst/>
              <a:rect r="r" b="b" t="t" l="l"/>
              <a:pathLst>
                <a:path h="164719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521067" y="5618769"/>
            <a:ext cx="1423017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Feature scaling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21067" y="6263926"/>
            <a:ext cx="14230179" cy="1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StandardScaler fitted on training data and applied to train/test.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2126" y="5632494"/>
            <a:ext cx="57209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120494" y="7117023"/>
            <a:ext cx="14976424" cy="1249709"/>
            <a:chOff x="0" y="0"/>
            <a:chExt cx="19968566" cy="16662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968590" cy="1666367"/>
            </a:xfrm>
            <a:custGeom>
              <a:avLst/>
              <a:gdLst/>
              <a:ahLst/>
              <a:cxnLst/>
              <a:rect r="r" b="b" t="t" l="l"/>
              <a:pathLst>
                <a:path h="1666367" w="19968590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19690842" y="0"/>
                  </a:lnTo>
                  <a:cubicBezTo>
                    <a:pt x="19844257" y="0"/>
                    <a:pt x="19968590" y="124333"/>
                    <a:pt x="19968590" y="277749"/>
                  </a:cubicBezTo>
                  <a:lnTo>
                    <a:pt x="19968590" y="1388618"/>
                  </a:lnTo>
                  <a:cubicBezTo>
                    <a:pt x="19968590" y="1542034"/>
                    <a:pt x="19844257" y="1666367"/>
                    <a:pt x="19690842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2127647" y="7124167"/>
            <a:ext cx="109814" cy="1235402"/>
            <a:chOff x="0" y="0"/>
            <a:chExt cx="146418" cy="16472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431" cy="1647190"/>
            </a:xfrm>
            <a:custGeom>
              <a:avLst/>
              <a:gdLst/>
              <a:ahLst/>
              <a:cxnLst/>
              <a:rect r="r" b="b" t="t" l="l"/>
              <a:pathLst>
                <a:path h="164719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47190"/>
                  </a:lnTo>
                  <a:lnTo>
                    <a:pt x="0" y="1647190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2521067" y="7375789"/>
            <a:ext cx="1423017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Missing-value check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21067" y="8020945"/>
            <a:ext cx="14230179" cy="1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Notebook reports 0 missing values in all columns.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2126" y="7389514"/>
            <a:ext cx="57209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4116" y="9036720"/>
            <a:ext cx="1491651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6788C"/>
                </a:solidFill>
                <a:latin typeface="Aptos"/>
                <a:ea typeface="Aptos"/>
                <a:cs typeface="Aptos"/>
                <a:sym typeface="Aptos"/>
              </a:rPr>
              <a:t>No explicit duplicate removal, outlier handling, encoding or feature engineering step is shown in the notebook.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EDA &amp; Visual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Four meaningful graphs from the notebook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1647206"/>
            <a:ext cx="8030137" cy="3363049"/>
            <a:chOff x="0" y="0"/>
            <a:chExt cx="10706849" cy="4484065"/>
          </a:xfrm>
        </p:grpSpPr>
        <p:sp>
          <p:nvSpPr>
            <p:cNvPr name="Freeform 13" id="13" descr="Distribution_of_House_Prices.png"/>
            <p:cNvSpPr/>
            <p:nvPr/>
          </p:nvSpPr>
          <p:spPr>
            <a:xfrm flipH="false" flipV="false" rot="0">
              <a:off x="0" y="0"/>
              <a:ext cx="10706862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50" r="0" b="-914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34176" y="1647206"/>
            <a:ext cx="8030137" cy="3363049"/>
            <a:chOff x="0" y="0"/>
            <a:chExt cx="10706849" cy="4484065"/>
          </a:xfrm>
        </p:grpSpPr>
        <p:sp>
          <p:nvSpPr>
            <p:cNvPr name="Freeform 15" id="15" descr="Total_Rooms_vs_Median_House_Value.png"/>
            <p:cNvSpPr/>
            <p:nvPr/>
          </p:nvSpPr>
          <p:spPr>
            <a:xfrm flipH="false" flipV="false" rot="0">
              <a:off x="0" y="0"/>
              <a:ext cx="10706862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50" r="0" b="-914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2235" y="5422059"/>
            <a:ext cx="8030137" cy="3363049"/>
            <a:chOff x="0" y="0"/>
            <a:chExt cx="10706849" cy="4484065"/>
          </a:xfrm>
        </p:grpSpPr>
        <p:sp>
          <p:nvSpPr>
            <p:cNvPr name="Freeform 17" id="17" descr="Correlation_Heatmap_-_California_Housing_Dataset.png"/>
            <p:cNvSpPr/>
            <p:nvPr/>
          </p:nvSpPr>
          <p:spPr>
            <a:xfrm flipH="false" flipV="false" rot="0">
              <a:off x="0" y="0"/>
              <a:ext cx="10706862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285" r="0" b="-3428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34176" y="5422059"/>
            <a:ext cx="8030137" cy="3363049"/>
            <a:chOff x="0" y="0"/>
            <a:chExt cx="10706849" cy="4484065"/>
          </a:xfrm>
        </p:grpSpPr>
        <p:sp>
          <p:nvSpPr>
            <p:cNvPr name="Freeform 19" id="19" descr="Housing_Median_Age_vs_Median_House_Value.png"/>
            <p:cNvSpPr/>
            <p:nvPr/>
          </p:nvSpPr>
          <p:spPr>
            <a:xfrm flipH="false" flipV="false" rot="0">
              <a:off x="0" y="0"/>
              <a:ext cx="10706862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294" r="0" b="-2129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20940" y="5083426"/>
            <a:ext cx="736681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House prices show a broad distribution with an upper tail.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62881" y="5083426"/>
            <a:ext cx="736681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More rooms generally relate to higher values, but the relationship is scattered.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0940" y="8858279"/>
            <a:ext cx="736681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Median income has a strong visible relationship with house value.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62881" y="8858279"/>
            <a:ext cx="736681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House value varies substantially across housing-age groups.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ML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End-to-end workflow from dataset to 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7817" y="2944092"/>
            <a:ext cx="2279209" cy="2141944"/>
            <a:chOff x="0" y="0"/>
            <a:chExt cx="3038945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38983" cy="2855976"/>
            </a:xfrm>
            <a:custGeom>
              <a:avLst/>
              <a:gdLst/>
              <a:ahLst/>
              <a:cxnLst/>
              <a:rect r="r" b="b" t="t" l="l"/>
              <a:pathLst>
                <a:path h="2855976" w="3038983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562987" y="0"/>
                  </a:lnTo>
                  <a:cubicBezTo>
                    <a:pt x="2825877" y="0"/>
                    <a:pt x="3038983" y="213106"/>
                    <a:pt x="3038983" y="475996"/>
                  </a:cubicBezTo>
                  <a:lnTo>
                    <a:pt x="3038983" y="2379980"/>
                  </a:lnTo>
                  <a:cubicBezTo>
                    <a:pt x="3038983" y="2642870"/>
                    <a:pt x="2825877" y="2855976"/>
                    <a:pt x="2562987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971" y="2951245"/>
            <a:ext cx="109814" cy="2127647"/>
            <a:chOff x="0" y="0"/>
            <a:chExt cx="146418" cy="28368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48401" y="3202867"/>
            <a:ext cx="153296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401" y="3848024"/>
            <a:ext cx="1532963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17,000 × 9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061059" y="3706216"/>
            <a:ext cx="549069" cy="549069"/>
            <a:chOff x="0" y="0"/>
            <a:chExt cx="732092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183007"/>
                  </a:moveTo>
                  <a:lnTo>
                    <a:pt x="366014" y="183007"/>
                  </a:lnTo>
                  <a:lnTo>
                    <a:pt x="366014" y="0"/>
                  </a:lnTo>
                  <a:lnTo>
                    <a:pt x="732155" y="366014"/>
                  </a:lnTo>
                  <a:lnTo>
                    <a:pt x="366014" y="732155"/>
                  </a:lnTo>
                  <a:lnTo>
                    <a:pt x="36601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99062" y="2944092"/>
            <a:ext cx="2279209" cy="2141944"/>
            <a:chOff x="0" y="0"/>
            <a:chExt cx="3038945" cy="28559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38983" cy="2855976"/>
            </a:xfrm>
            <a:custGeom>
              <a:avLst/>
              <a:gdLst/>
              <a:ahLst/>
              <a:cxnLst/>
              <a:rect r="r" b="b" t="t" l="l"/>
              <a:pathLst>
                <a:path h="2855976" w="3038983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562987" y="0"/>
                  </a:lnTo>
                  <a:cubicBezTo>
                    <a:pt x="2825877" y="0"/>
                    <a:pt x="3038983" y="213106"/>
                    <a:pt x="3038983" y="475996"/>
                  </a:cubicBezTo>
                  <a:lnTo>
                    <a:pt x="3038983" y="2379980"/>
                  </a:lnTo>
                  <a:cubicBezTo>
                    <a:pt x="3038983" y="2642870"/>
                    <a:pt x="2825877" y="2855976"/>
                    <a:pt x="2562987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706216" y="2951245"/>
            <a:ext cx="109814" cy="2127647"/>
            <a:chOff x="0" y="0"/>
            <a:chExt cx="146418" cy="2836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099646" y="3202867"/>
            <a:ext cx="153296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Prepare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99646" y="3848024"/>
            <a:ext cx="1532963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X/y + 80:20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012304" y="3706216"/>
            <a:ext cx="549069" cy="549069"/>
            <a:chOff x="0" y="0"/>
            <a:chExt cx="732092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183007"/>
                  </a:moveTo>
                  <a:lnTo>
                    <a:pt x="366014" y="183007"/>
                  </a:lnTo>
                  <a:lnTo>
                    <a:pt x="366014" y="0"/>
                  </a:lnTo>
                  <a:lnTo>
                    <a:pt x="732155" y="366014"/>
                  </a:lnTo>
                  <a:lnTo>
                    <a:pt x="366014" y="732155"/>
                  </a:lnTo>
                  <a:lnTo>
                    <a:pt x="36601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50307" y="2944092"/>
            <a:ext cx="2279209" cy="2141944"/>
            <a:chOff x="0" y="0"/>
            <a:chExt cx="3038945" cy="285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8983" cy="2855976"/>
            </a:xfrm>
            <a:custGeom>
              <a:avLst/>
              <a:gdLst/>
              <a:ahLst/>
              <a:cxnLst/>
              <a:rect r="r" b="b" t="t" l="l"/>
              <a:pathLst>
                <a:path h="2855976" w="3038983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562987" y="0"/>
                  </a:lnTo>
                  <a:cubicBezTo>
                    <a:pt x="2825877" y="0"/>
                    <a:pt x="3038983" y="213106"/>
                    <a:pt x="3038983" y="475996"/>
                  </a:cubicBezTo>
                  <a:lnTo>
                    <a:pt x="3038983" y="2379980"/>
                  </a:lnTo>
                  <a:cubicBezTo>
                    <a:pt x="3038983" y="2642870"/>
                    <a:pt x="2825877" y="2855976"/>
                    <a:pt x="2562987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657461" y="2951245"/>
            <a:ext cx="109814" cy="2127647"/>
            <a:chOff x="0" y="0"/>
            <a:chExt cx="146418" cy="28368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050891" y="3202867"/>
            <a:ext cx="153296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Scale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50891" y="3848024"/>
            <a:ext cx="1532963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StandardScaler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963549" y="3706216"/>
            <a:ext cx="549069" cy="549069"/>
            <a:chOff x="0" y="0"/>
            <a:chExt cx="732092" cy="7320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183007"/>
                  </a:moveTo>
                  <a:lnTo>
                    <a:pt x="366014" y="183007"/>
                  </a:lnTo>
                  <a:lnTo>
                    <a:pt x="366014" y="0"/>
                  </a:lnTo>
                  <a:lnTo>
                    <a:pt x="732155" y="366014"/>
                  </a:lnTo>
                  <a:lnTo>
                    <a:pt x="366014" y="732155"/>
                  </a:lnTo>
                  <a:lnTo>
                    <a:pt x="36601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1562" y="2944092"/>
            <a:ext cx="2279209" cy="2141944"/>
            <a:chOff x="0" y="0"/>
            <a:chExt cx="3038945" cy="28559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38983" cy="2855976"/>
            </a:xfrm>
            <a:custGeom>
              <a:avLst/>
              <a:gdLst/>
              <a:ahLst/>
              <a:cxnLst/>
              <a:rect r="r" b="b" t="t" l="l"/>
              <a:pathLst>
                <a:path h="2855976" w="3038983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562987" y="0"/>
                  </a:lnTo>
                  <a:cubicBezTo>
                    <a:pt x="2825877" y="0"/>
                    <a:pt x="3038983" y="213106"/>
                    <a:pt x="3038983" y="475996"/>
                  </a:cubicBezTo>
                  <a:lnTo>
                    <a:pt x="3038983" y="2379980"/>
                  </a:lnTo>
                  <a:cubicBezTo>
                    <a:pt x="3038983" y="2642870"/>
                    <a:pt x="2825877" y="2855976"/>
                    <a:pt x="2562987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08706" y="2951245"/>
            <a:ext cx="109814" cy="2127647"/>
            <a:chOff x="0" y="0"/>
            <a:chExt cx="146418" cy="28368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002136" y="3202867"/>
            <a:ext cx="153296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Train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02136" y="3848024"/>
            <a:ext cx="1532963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4 models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914794" y="3706216"/>
            <a:ext cx="549069" cy="549069"/>
            <a:chOff x="0" y="0"/>
            <a:chExt cx="732092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183007"/>
                  </a:moveTo>
                  <a:lnTo>
                    <a:pt x="366014" y="183007"/>
                  </a:lnTo>
                  <a:lnTo>
                    <a:pt x="366014" y="0"/>
                  </a:lnTo>
                  <a:lnTo>
                    <a:pt x="732155" y="366014"/>
                  </a:lnTo>
                  <a:lnTo>
                    <a:pt x="366014" y="732155"/>
                  </a:lnTo>
                  <a:lnTo>
                    <a:pt x="36601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52807" y="2944092"/>
            <a:ext cx="2279209" cy="2141944"/>
            <a:chOff x="0" y="0"/>
            <a:chExt cx="3038945" cy="28559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38983" cy="2855976"/>
            </a:xfrm>
            <a:custGeom>
              <a:avLst/>
              <a:gdLst/>
              <a:ahLst/>
              <a:cxnLst/>
              <a:rect r="r" b="b" t="t" l="l"/>
              <a:pathLst>
                <a:path h="2855976" w="3038983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562987" y="0"/>
                  </a:lnTo>
                  <a:cubicBezTo>
                    <a:pt x="2825877" y="0"/>
                    <a:pt x="3038983" y="213106"/>
                    <a:pt x="3038983" y="475996"/>
                  </a:cubicBezTo>
                  <a:lnTo>
                    <a:pt x="3038983" y="2379980"/>
                  </a:lnTo>
                  <a:cubicBezTo>
                    <a:pt x="3038983" y="2642870"/>
                    <a:pt x="2825877" y="2855976"/>
                    <a:pt x="2562987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559951" y="2951245"/>
            <a:ext cx="109814" cy="2127647"/>
            <a:chOff x="0" y="0"/>
            <a:chExt cx="146418" cy="283686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2953381" y="3202867"/>
            <a:ext cx="153296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Evaluate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53381" y="3848024"/>
            <a:ext cx="1532963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MAE • RMSE • R²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4866039" y="3706216"/>
            <a:ext cx="549069" cy="549069"/>
            <a:chOff x="0" y="0"/>
            <a:chExt cx="732092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2155" cy="732155"/>
            </a:xfrm>
            <a:custGeom>
              <a:avLst/>
              <a:gdLst/>
              <a:ahLst/>
              <a:cxnLst/>
              <a:rect r="r" b="b" t="t" l="l"/>
              <a:pathLst>
                <a:path h="732155" w="732155">
                  <a:moveTo>
                    <a:pt x="0" y="183007"/>
                  </a:moveTo>
                  <a:lnTo>
                    <a:pt x="366014" y="183007"/>
                  </a:lnTo>
                  <a:lnTo>
                    <a:pt x="366014" y="0"/>
                  </a:lnTo>
                  <a:lnTo>
                    <a:pt x="732155" y="366014"/>
                  </a:lnTo>
                  <a:lnTo>
                    <a:pt x="366014" y="732155"/>
                  </a:lnTo>
                  <a:lnTo>
                    <a:pt x="36601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504052" y="2944092"/>
            <a:ext cx="2279209" cy="2141944"/>
            <a:chOff x="0" y="0"/>
            <a:chExt cx="3038945" cy="28559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38983" cy="2855976"/>
            </a:xfrm>
            <a:custGeom>
              <a:avLst/>
              <a:gdLst/>
              <a:ahLst/>
              <a:cxnLst/>
              <a:rect r="r" b="b" t="t" l="l"/>
              <a:pathLst>
                <a:path h="2855976" w="3038983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562987" y="0"/>
                  </a:lnTo>
                  <a:cubicBezTo>
                    <a:pt x="2825877" y="0"/>
                    <a:pt x="3038983" y="213106"/>
                    <a:pt x="3038983" y="475996"/>
                  </a:cubicBezTo>
                  <a:lnTo>
                    <a:pt x="3038983" y="2379980"/>
                  </a:lnTo>
                  <a:cubicBezTo>
                    <a:pt x="3038983" y="2642870"/>
                    <a:pt x="2825877" y="2855976"/>
                    <a:pt x="2562987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511196" y="2951245"/>
            <a:ext cx="109814" cy="2127647"/>
            <a:chOff x="0" y="0"/>
            <a:chExt cx="146418" cy="283686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5904626" y="3202867"/>
            <a:ext cx="153296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Select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904626" y="3848024"/>
            <a:ext cx="1532963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Random Forest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64116" y="6360014"/>
            <a:ext cx="15191051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MAE and RMSE measure prediction error; lower is better.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R² measures explained variance; higher is better.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The held-out test set is used for final comparison.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Models Implemented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Algorithms used and one-line explanation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2356" y="1914592"/>
            <a:ext cx="7632630" cy="2347846"/>
            <a:chOff x="0" y="0"/>
            <a:chExt cx="10176840" cy="31304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76764" cy="3130423"/>
            </a:xfrm>
            <a:custGeom>
              <a:avLst/>
              <a:gdLst/>
              <a:ahLst/>
              <a:cxnLst/>
              <a:rect r="r" b="b" t="t" l="l"/>
              <a:pathLst>
                <a:path h="3130423" w="1017676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9655048" y="0"/>
                  </a:lnTo>
                  <a:cubicBezTo>
                    <a:pt x="9943211" y="0"/>
                    <a:pt x="10176764" y="233553"/>
                    <a:pt x="10176764" y="521716"/>
                  </a:cubicBezTo>
                  <a:lnTo>
                    <a:pt x="10176764" y="2608707"/>
                  </a:lnTo>
                  <a:cubicBezTo>
                    <a:pt x="10176764" y="2896870"/>
                    <a:pt x="9943211" y="3130423"/>
                    <a:pt x="965504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1921745"/>
            <a:ext cx="109814" cy="2333539"/>
            <a:chOff x="0" y="0"/>
            <a:chExt cx="146418" cy="3111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3111373"/>
            </a:xfrm>
            <a:custGeom>
              <a:avLst/>
              <a:gdLst/>
              <a:ahLst/>
              <a:cxnLst/>
              <a:rect r="r" b="b" t="t" l="l"/>
              <a:pathLst>
                <a:path h="31113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22930" y="2173357"/>
            <a:ext cx="6886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Linear Regression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2930" y="2818514"/>
            <a:ext cx="6886384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Baseline linear model using scaled features.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7023" y="1914592"/>
            <a:ext cx="7632630" cy="2347846"/>
            <a:chOff x="0" y="0"/>
            <a:chExt cx="10176840" cy="31304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76764" cy="3130423"/>
            </a:xfrm>
            <a:custGeom>
              <a:avLst/>
              <a:gdLst/>
              <a:ahLst/>
              <a:cxnLst/>
              <a:rect r="r" b="b" t="t" l="l"/>
              <a:pathLst>
                <a:path h="3130423" w="1017676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9655048" y="0"/>
                  </a:lnTo>
                  <a:cubicBezTo>
                    <a:pt x="9943211" y="0"/>
                    <a:pt x="10176764" y="233553"/>
                    <a:pt x="10176764" y="521716"/>
                  </a:cubicBezTo>
                  <a:lnTo>
                    <a:pt x="10176764" y="2608707"/>
                  </a:lnTo>
                  <a:cubicBezTo>
                    <a:pt x="10176764" y="2896870"/>
                    <a:pt x="9943211" y="3130423"/>
                    <a:pt x="965504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34176" y="1921745"/>
            <a:ext cx="109814" cy="2333539"/>
            <a:chOff x="0" y="0"/>
            <a:chExt cx="146418" cy="31113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3111373"/>
            </a:xfrm>
            <a:custGeom>
              <a:avLst/>
              <a:gdLst/>
              <a:ahLst/>
              <a:cxnLst/>
              <a:rect r="r" b="b" t="t" l="l"/>
              <a:pathLst>
                <a:path h="31113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27597" y="2173357"/>
            <a:ext cx="6886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Random Forest Regressor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7597" y="2818514"/>
            <a:ext cx="6886384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Ensemble of decision trees for non-linear relationships.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2356" y="4865837"/>
            <a:ext cx="7632630" cy="2347846"/>
            <a:chOff x="0" y="0"/>
            <a:chExt cx="10176840" cy="31304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76764" cy="3130423"/>
            </a:xfrm>
            <a:custGeom>
              <a:avLst/>
              <a:gdLst/>
              <a:ahLst/>
              <a:cxnLst/>
              <a:rect r="r" b="b" t="t" l="l"/>
              <a:pathLst>
                <a:path h="3130423" w="1017676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9655048" y="0"/>
                  </a:lnTo>
                  <a:cubicBezTo>
                    <a:pt x="9943211" y="0"/>
                    <a:pt x="10176764" y="233553"/>
                    <a:pt x="10176764" y="521716"/>
                  </a:cubicBezTo>
                  <a:lnTo>
                    <a:pt x="10176764" y="2608707"/>
                  </a:lnTo>
                  <a:cubicBezTo>
                    <a:pt x="10176764" y="2896870"/>
                    <a:pt x="9943211" y="3130423"/>
                    <a:pt x="965504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29500" y="4872990"/>
            <a:ext cx="109814" cy="2333539"/>
            <a:chOff x="0" y="0"/>
            <a:chExt cx="146418" cy="31113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3111373"/>
            </a:xfrm>
            <a:custGeom>
              <a:avLst/>
              <a:gdLst/>
              <a:ahLst/>
              <a:cxnLst/>
              <a:rect r="r" b="b" t="t" l="l"/>
              <a:pathLst>
                <a:path h="31113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D69D2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22930" y="5124602"/>
            <a:ext cx="6886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Gradient Boosting Regressor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2930" y="5769759"/>
            <a:ext cx="6886384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Sequential trees that reduce prediction error.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7023" y="4865837"/>
            <a:ext cx="7632630" cy="2347846"/>
            <a:chOff x="0" y="0"/>
            <a:chExt cx="10176840" cy="31304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76764" cy="3130423"/>
            </a:xfrm>
            <a:custGeom>
              <a:avLst/>
              <a:gdLst/>
              <a:ahLst/>
              <a:cxnLst/>
              <a:rect r="r" b="b" t="t" l="l"/>
              <a:pathLst>
                <a:path h="3130423" w="10176764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9655048" y="0"/>
                  </a:lnTo>
                  <a:cubicBezTo>
                    <a:pt x="9943211" y="0"/>
                    <a:pt x="10176764" y="233553"/>
                    <a:pt x="10176764" y="521716"/>
                  </a:cubicBezTo>
                  <a:lnTo>
                    <a:pt x="10176764" y="2608707"/>
                  </a:lnTo>
                  <a:cubicBezTo>
                    <a:pt x="10176764" y="2896870"/>
                    <a:pt x="9943211" y="3130423"/>
                    <a:pt x="9655048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334176" y="4872990"/>
            <a:ext cx="109814" cy="2333539"/>
            <a:chOff x="0" y="0"/>
            <a:chExt cx="146418" cy="31113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3111373"/>
            </a:xfrm>
            <a:custGeom>
              <a:avLst/>
              <a:gdLst/>
              <a:ahLst/>
              <a:cxnLst/>
              <a:rect r="r" b="b" t="t" l="l"/>
              <a:pathLst>
                <a:path h="31113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2A845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27597" y="5124602"/>
            <a:ext cx="6886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ANN – Deep Learning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7597" y="5769759"/>
            <a:ext cx="6886384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Dense neural network with ReLU layers and dropout.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4116" y="8075857"/>
            <a:ext cx="15191051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Random Forest: 100 estimators, random_state=42.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Gradient Boosting: 100 estimators, learning_rate=0.05, max_depth=3.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ANN: 128 → 64 → 32 → 1, dropout=0.2, 50 epochs.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Model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Comparison on the test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3719" y="1845955"/>
            <a:ext cx="5916787" cy="837905"/>
            <a:chOff x="0" y="0"/>
            <a:chExt cx="7889049" cy="11172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89113" cy="1117219"/>
            </a:xfrm>
            <a:custGeom>
              <a:avLst/>
              <a:gdLst/>
              <a:ahLst/>
              <a:cxnLst/>
              <a:rect r="r" b="b" t="t" l="l"/>
              <a:pathLst>
                <a:path h="1117219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1117219"/>
                  </a:lnTo>
                  <a:lnTo>
                    <a:pt x="0" y="1117219"/>
                  </a:lnTo>
                  <a:close/>
                </a:path>
              </a:pathLst>
            </a:custGeom>
            <a:solidFill>
              <a:srgbClr val="183960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62126" y="2036093"/>
            <a:ext cx="549998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Model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56209" y="1845955"/>
            <a:ext cx="2896914" cy="837905"/>
            <a:chOff x="0" y="0"/>
            <a:chExt cx="3862553" cy="11172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62578" cy="1117219"/>
            </a:xfrm>
            <a:custGeom>
              <a:avLst/>
              <a:gdLst/>
              <a:ahLst/>
              <a:cxnLst/>
              <a:rect r="r" b="b" t="t" l="l"/>
              <a:pathLst>
                <a:path h="111721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117219"/>
                  </a:lnTo>
                  <a:lnTo>
                    <a:pt x="0" y="1117219"/>
                  </a:lnTo>
                  <a:close/>
                </a:path>
              </a:pathLst>
            </a:custGeom>
            <a:solidFill>
              <a:srgbClr val="183960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064616" y="2036093"/>
            <a:ext cx="248010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MAE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38827" y="1845955"/>
            <a:ext cx="2896914" cy="837905"/>
            <a:chOff x="0" y="0"/>
            <a:chExt cx="3862553" cy="11172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62578" cy="1117219"/>
            </a:xfrm>
            <a:custGeom>
              <a:avLst/>
              <a:gdLst/>
              <a:ahLst/>
              <a:cxnLst/>
              <a:rect r="r" b="b" t="t" l="l"/>
              <a:pathLst>
                <a:path h="1117219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117219"/>
                  </a:lnTo>
                  <a:lnTo>
                    <a:pt x="0" y="1117219"/>
                  </a:lnTo>
                  <a:close/>
                </a:path>
              </a:pathLst>
            </a:custGeom>
            <a:solidFill>
              <a:srgbClr val="183960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947224" y="2036093"/>
            <a:ext cx="248010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RMSE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621435" y="1845955"/>
            <a:ext cx="2485111" cy="837905"/>
            <a:chOff x="0" y="0"/>
            <a:chExt cx="3313481" cy="11172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13430" cy="1117219"/>
            </a:xfrm>
            <a:custGeom>
              <a:avLst/>
              <a:gdLst/>
              <a:ahLst/>
              <a:cxnLst/>
              <a:rect r="r" b="b" t="t" l="l"/>
              <a:pathLst>
                <a:path h="1117219" w="3313430">
                  <a:moveTo>
                    <a:pt x="0" y="0"/>
                  </a:moveTo>
                  <a:lnTo>
                    <a:pt x="3313430" y="0"/>
                  </a:lnTo>
                  <a:lnTo>
                    <a:pt x="3313430" y="1117219"/>
                  </a:lnTo>
                  <a:lnTo>
                    <a:pt x="0" y="1117219"/>
                  </a:lnTo>
                  <a:close/>
                </a:path>
              </a:pathLst>
            </a:custGeom>
            <a:solidFill>
              <a:srgbClr val="183960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829842" y="2036093"/>
            <a:ext cx="206830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R²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3719" y="2669562"/>
            <a:ext cx="5916787" cy="1002621"/>
            <a:chOff x="0" y="0"/>
            <a:chExt cx="7889049" cy="13368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89113" cy="1336802"/>
            </a:xfrm>
            <a:custGeom>
              <a:avLst/>
              <a:gdLst/>
              <a:ahLst/>
              <a:cxnLst/>
              <a:rect r="r" b="b" t="t" l="l"/>
              <a:pathLst>
                <a:path h="1336802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62126" y="2887151"/>
            <a:ext cx="549998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3948"/>
                </a:solidFill>
                <a:latin typeface="Aptos Bold"/>
                <a:ea typeface="Aptos Bold"/>
                <a:cs typeface="Aptos Bold"/>
                <a:sym typeface="Aptos Bold"/>
              </a:rPr>
              <a:t>Random Forest Regressor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856209" y="2669562"/>
            <a:ext cx="2896914" cy="1002621"/>
            <a:chOff x="0" y="0"/>
            <a:chExt cx="3862553" cy="13368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064616" y="2887151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$32,360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38827" y="2669562"/>
            <a:ext cx="2896914" cy="1002621"/>
            <a:chOff x="0" y="0"/>
            <a:chExt cx="3862553" cy="13368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947224" y="2887151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$49,415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621435" y="2669562"/>
            <a:ext cx="2485111" cy="1002621"/>
            <a:chOff x="0" y="0"/>
            <a:chExt cx="3313481" cy="13368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13430" cy="1336802"/>
            </a:xfrm>
            <a:custGeom>
              <a:avLst/>
              <a:gdLst/>
              <a:ahLst/>
              <a:cxnLst/>
              <a:rect r="r" b="b" t="t" l="l"/>
              <a:pathLst>
                <a:path h="1336802" w="3313430">
                  <a:moveTo>
                    <a:pt x="0" y="0"/>
                  </a:moveTo>
                  <a:lnTo>
                    <a:pt x="3313430" y="0"/>
                  </a:lnTo>
                  <a:lnTo>
                    <a:pt x="3313430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829842" y="2887151"/>
            <a:ext cx="2068306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3948"/>
                </a:solidFill>
                <a:latin typeface="Aptos Bold"/>
                <a:ea typeface="Aptos Bold"/>
                <a:cs typeface="Aptos Bold"/>
                <a:sym typeface="Aptos Bold"/>
              </a:rPr>
              <a:t>0.823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3719" y="3657886"/>
            <a:ext cx="5916787" cy="1002621"/>
            <a:chOff x="0" y="0"/>
            <a:chExt cx="7889049" cy="13368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89113" cy="1336802"/>
            </a:xfrm>
            <a:custGeom>
              <a:avLst/>
              <a:gdLst/>
              <a:ahLst/>
              <a:cxnLst/>
              <a:rect r="r" b="b" t="t" l="l"/>
              <a:pathLst>
                <a:path h="1336802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162126" y="3875475"/>
            <a:ext cx="549998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3948"/>
                </a:solidFill>
                <a:latin typeface="Aptos Bold"/>
                <a:ea typeface="Aptos Bold"/>
                <a:cs typeface="Aptos Bold"/>
                <a:sym typeface="Aptos Bold"/>
              </a:rPr>
              <a:t>Gradient Boosting Regressor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856209" y="3657886"/>
            <a:ext cx="2896914" cy="1002621"/>
            <a:chOff x="0" y="0"/>
            <a:chExt cx="3862553" cy="13368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7064616" y="3875475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$43,307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738827" y="3657886"/>
            <a:ext cx="2896914" cy="1002621"/>
            <a:chOff x="0" y="0"/>
            <a:chExt cx="3862553" cy="13368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947224" y="3875475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$60,911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621435" y="3657886"/>
            <a:ext cx="2485111" cy="1002621"/>
            <a:chOff x="0" y="0"/>
            <a:chExt cx="3313481" cy="133682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13430" cy="1336802"/>
            </a:xfrm>
            <a:custGeom>
              <a:avLst/>
              <a:gdLst/>
              <a:ahLst/>
              <a:cxnLst/>
              <a:rect r="r" b="b" t="t" l="l"/>
              <a:pathLst>
                <a:path h="1336802" w="3313430">
                  <a:moveTo>
                    <a:pt x="0" y="0"/>
                  </a:moveTo>
                  <a:lnTo>
                    <a:pt x="3313430" y="0"/>
                  </a:lnTo>
                  <a:lnTo>
                    <a:pt x="3313430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2829842" y="3875475"/>
            <a:ext cx="2068306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0.731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53719" y="4646209"/>
            <a:ext cx="5916787" cy="1002621"/>
            <a:chOff x="0" y="0"/>
            <a:chExt cx="7889049" cy="13368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889113" cy="1336802"/>
            </a:xfrm>
            <a:custGeom>
              <a:avLst/>
              <a:gdLst/>
              <a:ahLst/>
              <a:cxnLst/>
              <a:rect r="r" b="b" t="t" l="l"/>
              <a:pathLst>
                <a:path h="1336802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62126" y="4863798"/>
            <a:ext cx="549998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3948"/>
                </a:solidFill>
                <a:latin typeface="Aptos Bold"/>
                <a:ea typeface="Aptos Bold"/>
                <a:cs typeface="Aptos Bold"/>
                <a:sym typeface="Aptos Bold"/>
              </a:rPr>
              <a:t>ANN Deep Learning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856209" y="4646209"/>
            <a:ext cx="2896914" cy="1002621"/>
            <a:chOff x="0" y="0"/>
            <a:chExt cx="3862553" cy="13368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7064616" y="4863798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$44,831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738827" y="4646209"/>
            <a:ext cx="2896914" cy="1002621"/>
            <a:chOff x="0" y="0"/>
            <a:chExt cx="3862553" cy="13368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9947224" y="4863798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$63,993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621435" y="4646209"/>
            <a:ext cx="2485111" cy="1002621"/>
            <a:chOff x="0" y="0"/>
            <a:chExt cx="3313481" cy="133682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13430" cy="1336802"/>
            </a:xfrm>
            <a:custGeom>
              <a:avLst/>
              <a:gdLst/>
              <a:ahLst/>
              <a:cxnLst/>
              <a:rect r="r" b="b" t="t" l="l"/>
              <a:pathLst>
                <a:path h="1336802" w="3313430">
                  <a:moveTo>
                    <a:pt x="0" y="0"/>
                  </a:moveTo>
                  <a:lnTo>
                    <a:pt x="3313430" y="0"/>
                  </a:lnTo>
                  <a:lnTo>
                    <a:pt x="3313430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2829842" y="4863798"/>
            <a:ext cx="2068306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0.703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53719" y="5634533"/>
            <a:ext cx="5916787" cy="1002621"/>
            <a:chOff x="0" y="0"/>
            <a:chExt cx="7889049" cy="13368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89113" cy="1336802"/>
            </a:xfrm>
            <a:custGeom>
              <a:avLst/>
              <a:gdLst/>
              <a:ahLst/>
              <a:cxnLst/>
              <a:rect r="r" b="b" t="t" l="l"/>
              <a:pathLst>
                <a:path h="1336802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1162126" y="5852122"/>
            <a:ext cx="549998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B3948"/>
                </a:solidFill>
                <a:latin typeface="Aptos Bold"/>
                <a:ea typeface="Aptos Bold"/>
                <a:cs typeface="Aptos Bold"/>
                <a:sym typeface="Aptos Bold"/>
              </a:rPr>
              <a:t>Linear Regression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6856209" y="5634533"/>
            <a:ext cx="2896914" cy="1002621"/>
            <a:chOff x="0" y="0"/>
            <a:chExt cx="3862553" cy="133682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7064616" y="5852122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$49,983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738827" y="5634533"/>
            <a:ext cx="2896914" cy="1002621"/>
            <a:chOff x="0" y="0"/>
            <a:chExt cx="3862553" cy="133682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62578" cy="1336802"/>
            </a:xfrm>
            <a:custGeom>
              <a:avLst/>
              <a:gdLst/>
              <a:ahLst/>
              <a:cxnLst/>
              <a:rect r="r" b="b" t="t" l="l"/>
              <a:pathLst>
                <a:path h="1336802" w="3862578">
                  <a:moveTo>
                    <a:pt x="0" y="0"/>
                  </a:moveTo>
                  <a:lnTo>
                    <a:pt x="3862578" y="0"/>
                  </a:lnTo>
                  <a:lnTo>
                    <a:pt x="3862578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9947224" y="5852122"/>
            <a:ext cx="2480100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$68,078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621435" y="5634533"/>
            <a:ext cx="2485111" cy="1002621"/>
            <a:chOff x="0" y="0"/>
            <a:chExt cx="3313481" cy="13368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313430" cy="1336802"/>
            </a:xfrm>
            <a:custGeom>
              <a:avLst/>
              <a:gdLst/>
              <a:ahLst/>
              <a:cxnLst/>
              <a:rect r="r" b="b" t="t" l="l"/>
              <a:pathLst>
                <a:path h="1336802" w="3313430">
                  <a:moveTo>
                    <a:pt x="0" y="0"/>
                  </a:moveTo>
                  <a:lnTo>
                    <a:pt x="3313430" y="0"/>
                  </a:lnTo>
                  <a:lnTo>
                    <a:pt x="3313430" y="1336802"/>
                  </a:lnTo>
                  <a:lnTo>
                    <a:pt x="0" y="1336802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8EE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2829842" y="5852122"/>
            <a:ext cx="2068306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0.664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552807" y="1845955"/>
            <a:ext cx="4612748" cy="4887287"/>
            <a:chOff x="0" y="0"/>
            <a:chExt cx="6150331" cy="651638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150229" cy="6516370"/>
            </a:xfrm>
            <a:custGeom>
              <a:avLst/>
              <a:gdLst/>
              <a:ahLst/>
              <a:cxnLst/>
              <a:rect r="r" b="b" t="t" l="l"/>
              <a:pathLst>
                <a:path h="6516370" w="6150229">
                  <a:moveTo>
                    <a:pt x="0" y="1025017"/>
                  </a:moveTo>
                  <a:cubicBezTo>
                    <a:pt x="0" y="458978"/>
                    <a:pt x="458978" y="0"/>
                    <a:pt x="1025017" y="0"/>
                  </a:cubicBezTo>
                  <a:lnTo>
                    <a:pt x="5125212" y="0"/>
                  </a:lnTo>
                  <a:cubicBezTo>
                    <a:pt x="5691378" y="0"/>
                    <a:pt x="6150229" y="458978"/>
                    <a:pt x="6150229" y="1025017"/>
                  </a:cubicBezTo>
                  <a:lnTo>
                    <a:pt x="6150229" y="5491353"/>
                  </a:lnTo>
                  <a:cubicBezTo>
                    <a:pt x="6150229" y="6057519"/>
                    <a:pt x="5691251" y="6516370"/>
                    <a:pt x="5125212" y="6516370"/>
                  </a:cubicBezTo>
                  <a:lnTo>
                    <a:pt x="1025017" y="6516370"/>
                  </a:lnTo>
                  <a:cubicBezTo>
                    <a:pt x="458978" y="6516370"/>
                    <a:pt x="0" y="6057392"/>
                    <a:pt x="0" y="5491353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559951" y="1853108"/>
            <a:ext cx="109814" cy="4872990"/>
            <a:chOff x="0" y="0"/>
            <a:chExt cx="146418" cy="64973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431" cy="6497320"/>
            </a:xfrm>
            <a:custGeom>
              <a:avLst/>
              <a:gdLst/>
              <a:ahLst/>
              <a:cxnLst/>
              <a:rect r="r" b="b" t="t" l="l"/>
              <a:pathLst>
                <a:path h="649732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497320"/>
                  </a:lnTo>
                  <a:lnTo>
                    <a:pt x="0" y="6497320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2953381" y="2104730"/>
            <a:ext cx="386650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BEST MODEL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953381" y="2749887"/>
            <a:ext cx="3866502" cy="375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Random Forest Regressor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R² = 0.823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MAE ≈ $32,360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RMSE ≈ $49,415</a:t>
            </a:r>
          </a:p>
          <a:p>
            <a:pPr algn="l">
              <a:lnSpc>
                <a:spcPts val="2341"/>
              </a:lnSpc>
            </a:pP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Highest R² and lowest errors.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242518" y="6637153"/>
            <a:ext cx="7355847" cy="3649847"/>
            <a:chOff x="0" y="0"/>
            <a:chExt cx="7333310" cy="3638664"/>
          </a:xfrm>
        </p:grpSpPr>
        <p:sp>
          <p:nvSpPr>
            <p:cNvPr name="Freeform 78" id="78" descr="Model_Comparison_-_R2_Score.png"/>
            <p:cNvSpPr/>
            <p:nvPr/>
          </p:nvSpPr>
          <p:spPr>
            <a:xfrm flipH="false" flipV="false" rot="0">
              <a:off x="0" y="0"/>
              <a:ext cx="7333283" cy="3638583"/>
            </a:xfrm>
            <a:custGeom>
              <a:avLst/>
              <a:gdLst/>
              <a:ahLst/>
              <a:cxnLst/>
              <a:rect r="r" b="b" t="t" l="l"/>
              <a:pathLst>
                <a:path h="3638583" w="7333283">
                  <a:moveTo>
                    <a:pt x="0" y="0"/>
                  </a:moveTo>
                  <a:lnTo>
                    <a:pt x="7333283" y="0"/>
                  </a:lnTo>
                  <a:lnTo>
                    <a:pt x="7333283" y="3638583"/>
                  </a:lnTo>
                  <a:lnTo>
                    <a:pt x="0" y="3638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9" r="0" b="-130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1771054" y="7416523"/>
            <a:ext cx="5679681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508" b="true">
                <a:solidFill>
                  <a:srgbClr val="149D97"/>
                </a:solidFill>
                <a:latin typeface="Aptos Bold"/>
                <a:ea typeface="Aptos Bold"/>
                <a:cs typeface="Aptos Bold"/>
                <a:sym typeface="Aptos Bold"/>
              </a:rPr>
              <a:t>Random Forest clearly leads the four-model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Prediction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vs predicted values from the Random Forest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1647206"/>
            <a:ext cx="9883245" cy="6657461"/>
            <a:chOff x="0" y="0"/>
            <a:chExt cx="13177660" cy="8876614"/>
          </a:xfrm>
        </p:grpSpPr>
        <p:sp>
          <p:nvSpPr>
            <p:cNvPr name="Freeform 13" id="13" descr="Actual_vs_Predicted_House_Prices.png"/>
            <p:cNvSpPr/>
            <p:nvPr/>
          </p:nvSpPr>
          <p:spPr>
            <a:xfrm flipH="false" flipV="false" rot="0">
              <a:off x="0" y="0"/>
              <a:ext cx="13177647" cy="8876665"/>
            </a:xfrm>
            <a:custGeom>
              <a:avLst/>
              <a:gdLst/>
              <a:ahLst/>
              <a:cxnLst/>
              <a:rect r="r" b="b" t="t" l="l"/>
              <a:pathLst>
                <a:path h="8876665" w="13177647">
                  <a:moveTo>
                    <a:pt x="0" y="0"/>
                  </a:moveTo>
                  <a:lnTo>
                    <a:pt x="13177647" y="0"/>
                  </a:lnTo>
                  <a:lnTo>
                    <a:pt x="13177647" y="8876665"/>
                  </a:lnTo>
                  <a:lnTo>
                    <a:pt x="0" y="8876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457" t="0" r="-6457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48758" y="1983229"/>
            <a:ext cx="5642258" cy="2622375"/>
            <a:chOff x="0" y="0"/>
            <a:chExt cx="7523010" cy="349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23099" cy="3496564"/>
            </a:xfrm>
            <a:custGeom>
              <a:avLst/>
              <a:gdLst/>
              <a:ahLst/>
              <a:cxnLst/>
              <a:rect r="r" b="b" t="t" l="l"/>
              <a:pathLst>
                <a:path h="3496564" w="7523099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940296" y="0"/>
                  </a:lnTo>
                  <a:cubicBezTo>
                    <a:pt x="7262114" y="0"/>
                    <a:pt x="7523099" y="260858"/>
                    <a:pt x="7523099" y="582803"/>
                  </a:cubicBezTo>
                  <a:lnTo>
                    <a:pt x="7523099" y="2913761"/>
                  </a:lnTo>
                  <a:cubicBezTo>
                    <a:pt x="7523099" y="3235579"/>
                    <a:pt x="7262240" y="3496564"/>
                    <a:pt x="6940296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55912" y="1990373"/>
            <a:ext cx="109814" cy="2608078"/>
            <a:chOff x="0" y="0"/>
            <a:chExt cx="146418" cy="34774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" cy="3477387"/>
            </a:xfrm>
            <a:custGeom>
              <a:avLst/>
              <a:gdLst/>
              <a:ahLst/>
              <a:cxnLst/>
              <a:rect r="r" b="b" t="t" l="l"/>
              <a:pathLst>
                <a:path h="34773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649342" y="2241994"/>
            <a:ext cx="489600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What the plot shows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49342" y="2887151"/>
            <a:ext cx="4896002" cy="148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Points closer to the diagonal represent predictions closer to the actual house value.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48758" y="5140376"/>
            <a:ext cx="5642258" cy="3034179"/>
            <a:chOff x="0" y="0"/>
            <a:chExt cx="7523010" cy="4045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22973" cy="4045585"/>
            </a:xfrm>
            <a:custGeom>
              <a:avLst/>
              <a:gdLst/>
              <a:ahLst/>
              <a:cxnLst/>
              <a:rect r="r" b="b" t="t" l="l"/>
              <a:pathLst>
                <a:path h="4045585" w="7522973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6848729" y="0"/>
                  </a:lnTo>
                  <a:cubicBezTo>
                    <a:pt x="7221093" y="0"/>
                    <a:pt x="7522973" y="301879"/>
                    <a:pt x="7522973" y="674243"/>
                  </a:cubicBezTo>
                  <a:lnTo>
                    <a:pt x="7522973" y="3371342"/>
                  </a:lnTo>
                  <a:cubicBezTo>
                    <a:pt x="7522973" y="3743706"/>
                    <a:pt x="7221093" y="4045585"/>
                    <a:pt x="6848729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55912" y="5147520"/>
            <a:ext cx="109814" cy="3019882"/>
            <a:chOff x="0" y="0"/>
            <a:chExt cx="146418" cy="40265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31" cy="4026535"/>
            </a:xfrm>
            <a:custGeom>
              <a:avLst/>
              <a:gdLst/>
              <a:ahLst/>
              <a:cxnLst/>
              <a:rect r="r" b="b" t="t" l="l"/>
              <a:pathLst>
                <a:path h="402653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49342" y="5399141"/>
            <a:ext cx="489600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Notebook result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49342" y="6044298"/>
            <a:ext cx="4896002" cy="189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The notebook does not provide a single manual user-input example, so this slide uses the recorded test-set prediction plot rather than inventing an example.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47352" y="8624926"/>
            <a:ext cx="544507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6788C"/>
                </a:solidFill>
                <a:latin typeface="Aptos"/>
                <a:ea typeface="Aptos"/>
                <a:cs typeface="Aptos"/>
                <a:sym typeface="Aptos"/>
              </a:rPr>
              <a:t>Model: Random Forest Regressor • Prediction array: rf_pred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Results, Conclusion &amp; Limits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Main findings, learning and current limitations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1126" y="9813827"/>
            <a:ext cx="143577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2356" y="1845955"/>
            <a:ext cx="5161817" cy="2759640"/>
            <a:chOff x="0" y="0"/>
            <a:chExt cx="6882422" cy="3679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9500" y="1853108"/>
            <a:ext cx="109814" cy="2745343"/>
            <a:chOff x="0" y="0"/>
            <a:chExt cx="146418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22930" y="2104730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Key finding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2930" y="2749887"/>
            <a:ext cx="4415571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Random Forest achieved the best recorded performance: R² = 0.823.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1680" y="1845955"/>
            <a:ext cx="5161817" cy="2759640"/>
            <a:chOff x="0" y="0"/>
            <a:chExt cx="6882422" cy="36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588824" y="1853108"/>
            <a:ext cx="109814" cy="2745343"/>
            <a:chOff x="0" y="0"/>
            <a:chExt cx="146418" cy="36604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82254" y="2104730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What was learned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82254" y="2749887"/>
            <a:ext cx="4415571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Ensemble tree models captured the dataset relationships better than the linear baseline in this comparison.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41003" y="1845955"/>
            <a:ext cx="5161817" cy="2759640"/>
            <a:chOff x="0" y="0"/>
            <a:chExt cx="6882422" cy="3679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82384" cy="3679571"/>
            </a:xfrm>
            <a:custGeom>
              <a:avLst/>
              <a:gdLst/>
              <a:ahLst/>
              <a:cxnLst/>
              <a:rect r="r" b="b" t="t" l="l"/>
              <a:pathLst>
                <a:path h="3679571" w="688238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269101" y="0"/>
                  </a:lnTo>
                  <a:cubicBezTo>
                    <a:pt x="6607810" y="0"/>
                    <a:pt x="6882384" y="274574"/>
                    <a:pt x="6882384" y="613283"/>
                  </a:cubicBezTo>
                  <a:lnTo>
                    <a:pt x="6882384" y="3066288"/>
                  </a:lnTo>
                  <a:cubicBezTo>
                    <a:pt x="6882384" y="3404997"/>
                    <a:pt x="6607810" y="3679571"/>
                    <a:pt x="6269101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48147" y="1853108"/>
            <a:ext cx="109814" cy="2745343"/>
            <a:chOff x="0" y="0"/>
            <a:chExt cx="146418" cy="36604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D69D2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41577" y="2104730"/>
            <a:ext cx="441557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Limitation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41577" y="2749887"/>
            <a:ext cx="4415571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Predictions still contain meaningful error, so the model should not be treated as exact valuation.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5479" y="5605043"/>
            <a:ext cx="15191051" cy="279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No explicit outlier, duplicate, encoding or feature-engineering workflow is shown.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The notebook records overflow warnings around an np.expm1 price-conversion step; the main evaluation compares y_test directly with model predictions.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There is no deployed application or single manual-input prediction example in the notebook.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494500"/>
            <a:ext cx="15328316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Future Scope &amp; GitHub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126" y="1211370"/>
            <a:ext cx="15191051" cy="3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6788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improvements plus repository sharing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508" y="488051"/>
            <a:ext cx="777992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149D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18519"/>
            <a:ext cx="16472068" cy="27451"/>
            <a:chOff x="0" y="0"/>
            <a:chExt cx="21962758" cy="36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CE4E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8214" y="1830191"/>
            <a:ext cx="9563090" cy="66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Add systematic outlier analysis and feature engineering.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Tune hyperparameters with cross-validation.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Explore stronger ensembles and better-tuned neural networks.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Build a simple web interface for user-entered predictions.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Add feature-importance / SHAP explainability.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• Validate the model on an independent dataset.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17395" y="1914592"/>
            <a:ext cx="5642258" cy="2759640"/>
            <a:chOff x="0" y="0"/>
            <a:chExt cx="7523010" cy="3679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22972" cy="3679571"/>
            </a:xfrm>
            <a:custGeom>
              <a:avLst/>
              <a:gdLst/>
              <a:ahLst/>
              <a:cxnLst/>
              <a:rect r="r" b="b" t="t" l="l"/>
              <a:pathLst>
                <a:path h="3679571" w="752297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909689" y="0"/>
                  </a:lnTo>
                  <a:cubicBezTo>
                    <a:pt x="7248398" y="0"/>
                    <a:pt x="7522972" y="274574"/>
                    <a:pt x="7522972" y="613283"/>
                  </a:cubicBezTo>
                  <a:lnTo>
                    <a:pt x="7522972" y="3066288"/>
                  </a:lnTo>
                  <a:cubicBezTo>
                    <a:pt x="7522972" y="3404997"/>
                    <a:pt x="7248398" y="3679571"/>
                    <a:pt x="690968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324549" y="1921745"/>
            <a:ext cx="109814" cy="2745343"/>
            <a:chOff x="0" y="0"/>
            <a:chExt cx="146418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3660521"/>
            </a:xfrm>
            <a:custGeom>
              <a:avLst/>
              <a:gdLst/>
              <a:ahLst/>
              <a:cxnLst/>
              <a:rect r="r" b="b" t="t" l="l"/>
              <a:pathLst>
                <a:path h="366052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717979" y="2173357"/>
            <a:ext cx="489600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GitHub / QR Code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17979" y="2818514"/>
            <a:ext cx="4896002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The notebook does not contain a repository link. Add the final GitHub URL or QR code here before submission.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17395" y="5209003"/>
            <a:ext cx="5642258" cy="2622375"/>
            <a:chOff x="0" y="0"/>
            <a:chExt cx="7523010" cy="349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23099" cy="3496564"/>
            </a:xfrm>
            <a:custGeom>
              <a:avLst/>
              <a:gdLst/>
              <a:ahLst/>
              <a:cxnLst/>
              <a:rect r="r" b="b" t="t" l="l"/>
              <a:pathLst>
                <a:path h="3496564" w="7523099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940296" y="0"/>
                  </a:lnTo>
                  <a:cubicBezTo>
                    <a:pt x="7262114" y="0"/>
                    <a:pt x="7523099" y="260858"/>
                    <a:pt x="7523099" y="582803"/>
                  </a:cubicBezTo>
                  <a:lnTo>
                    <a:pt x="7523099" y="2913761"/>
                  </a:lnTo>
                  <a:cubicBezTo>
                    <a:pt x="7523099" y="3235579"/>
                    <a:pt x="7262240" y="3496564"/>
                    <a:pt x="6940296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4F8FB"/>
            </a:solidFill>
            <a:ln w="14299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324549" y="5216157"/>
            <a:ext cx="109814" cy="2608078"/>
            <a:chOff x="0" y="0"/>
            <a:chExt cx="146418" cy="34774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3477387"/>
            </a:xfrm>
            <a:custGeom>
              <a:avLst/>
              <a:gdLst/>
              <a:ahLst/>
              <a:cxnLst/>
              <a:rect r="r" b="b" t="t" l="l"/>
              <a:pathLst>
                <a:path h="34773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33679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717979" y="5467779"/>
            <a:ext cx="489600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Final checklist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17979" y="6112935"/>
            <a:ext cx="4896002" cy="148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B3948"/>
                </a:solidFill>
                <a:latin typeface="Aptos"/>
                <a:ea typeface="Aptos"/>
                <a:cs typeface="Aptos"/>
                <a:sym typeface="Aptos"/>
              </a:rPr>
              <a:t>Replace title-slide placeholders with your name, roll number, course/class and institution.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49D9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80509" y="3926612"/>
            <a:ext cx="8962783" cy="197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7"/>
              </a:lnSpc>
            </a:pPr>
            <a:r>
              <a:rPr lang="en-US" sz="13014" b="true">
                <a:solidFill>
                  <a:srgbClr val="183960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DAHTgjaAeo4</dc:identifier>
  <dcterms:modified xsi:type="dcterms:W3CDTF">2011-08-01T06:04:30Z</dcterms:modified>
  <cp:revision>1</cp:revision>
  <dc:title>House_Price_Prediction_Presentation.pptx</dc:title>
</cp:coreProperties>
</file>